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713232" y="1115568"/>
            <a:ext cx="484632" cy="4873752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91456" y="0"/>
            <a:ext cx="7406640" cy="6858000"/>
          </a:xfrm>
          <a:prstGeom prst="roundRect">
            <a:avLst>
              <a:gd name="adj" fmla="val 1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28032" y="36576"/>
            <a:ext cx="7333488" cy="6784848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4608" y="73152"/>
            <a:ext cx="7260336" cy="6711696"/>
          </a:xfrm>
          <a:prstGeom prst="roundRect">
            <a:avLst>
              <a:gd name="adj" fmla="val 1021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91456" y="3154680"/>
            <a:ext cx="7406640" cy="45720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200" b="1">
                <a:solidFill>
                  <a:srgbClr val="CCCCCC"/>
                </a:solidFill>
                <a:latin typeface="Microsoft YaHei"/>
                <a:ea typeface="Microsoft YaHei"/>
              </a:rPr>
              <a:t>[ 封面图片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1456" y="3611880"/>
            <a:ext cx="7406640" cy="2743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755"/>
              </a:lnSpc>
            </a:pPr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封面图片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9728"/>
            <a:ext cx="1014984" cy="676656"/>
          </a:xfrm>
          <a:prstGeom prst="roundRect">
            <a:avLst>
              <a:gd name="adj" fmla="val 3378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9728"/>
            <a:ext cx="1014984" cy="676656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Century Gothic"/>
                <a:ea typeface="Microsoft YaHei"/>
              </a:rPr>
              <a:t>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350008"/>
            <a:ext cx="4434840" cy="13258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4000" b="1">
                <a:solidFill>
                  <a:srgbClr val="3E3939"/>
                </a:solidFill>
                <a:latin typeface="Microsoft YaHei"/>
                <a:ea typeface="Microsoft YaHei"/>
              </a:rPr>
              <a:t>中国餐饮行业</a:t>
            </a:r>
          </a:p>
          <a:p>
            <a:pPr algn="l">
              <a:lnSpc>
                <a:spcPct val="93000"/>
              </a:lnSpc>
            </a:pPr>
            <a:r>
              <a:rPr sz="4000" b="1">
                <a:solidFill>
                  <a:srgbClr val="3E3939"/>
                </a:solidFill>
                <a:latin typeface="Microsoft YaHei"/>
                <a:ea typeface="Microsoft YaHei"/>
              </a:rPr>
              <a:t>年度趋势报告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767328"/>
            <a:ext cx="4325112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0">
                <a:solidFill>
                  <a:srgbClr val="3E3939"/>
                </a:solidFill>
                <a:latin typeface="Century Gothic"/>
                <a:ea typeface="Microsoft YaHei"/>
              </a:rPr>
              <a:t>Annual Trend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608576"/>
            <a:ext cx="2715768" cy="3108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666666"/>
                </a:solidFill>
                <a:latin typeface="Century Gothic"/>
                <a:ea typeface="Microsoft YaHei"/>
              </a:rPr>
              <a:t>2026.04  高岩科技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" y="36576"/>
            <a:ext cx="12118543" cy="6784848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" y="73152"/>
            <a:ext cx="12045391" cy="6711696"/>
          </a:xfrm>
          <a:prstGeom prst="roundRect">
            <a:avLst>
              <a:gd name="adj" fmla="val 1021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200" b="1">
                <a:solidFill>
                  <a:srgbClr val="CCCCCC"/>
                </a:solidFill>
                <a:latin typeface="Microsoft YaHei"/>
                <a:ea typeface="Microsoft YaHei"/>
              </a:rPr>
              <a:t>[ 封面背景图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11880"/>
            <a:ext cx="12191695" cy="2743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755"/>
              </a:lnSpc>
            </a:pPr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封面背景图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09176" y="5321808"/>
            <a:ext cx="2788920" cy="1536192"/>
          </a:xfrm>
          <a:prstGeom prst="roundRect">
            <a:avLst>
              <a:gd name="adj" fmla="val 4464"/>
            </a:avLst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05856" y="3063240"/>
            <a:ext cx="6135624" cy="7680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中式餐饮白皮书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3858768"/>
            <a:ext cx="5815584" cy="1078992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3200" b="0">
                <a:solidFill>
                  <a:srgbClr val="FFFFFF"/>
                </a:solidFill>
                <a:latin typeface="Century Gothic"/>
                <a:ea typeface="Microsoft YaHei"/>
              </a:rPr>
              <a:t>Chinese Cuisine Whitepaper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5797296"/>
            <a:ext cx="2002536" cy="7680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4400" b="1">
                <a:solidFill>
                  <a:srgbClr val="FFFFFF"/>
                </a:solidFill>
                <a:latin typeface="Century Gothic"/>
                <a:ea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192" y="210312"/>
            <a:ext cx="5440680" cy="1444752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8800" b="1">
                <a:solidFill>
                  <a:srgbClr val="3E3939"/>
                </a:solidFill>
                <a:latin typeface="Century Gothic"/>
                <a:ea typeface="Microsoft YaHe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27064" y="1078992"/>
            <a:ext cx="551383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28248" y="950976"/>
            <a:ext cx="502920" cy="5029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8" y="914400"/>
            <a:ext cx="3264408" cy="40233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0">
                <a:solidFill>
                  <a:srgbClr val="44546A"/>
                </a:solidFill>
                <a:latin typeface="Microsoft YaHei"/>
                <a:ea typeface="Microsoft YaHei"/>
              </a:rPr>
              <a:t>市场总览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7336" y="1234440"/>
            <a:ext cx="2779776" cy="3108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Century Gothic"/>
                <a:ea typeface="Microsoft YaHei"/>
              </a:rPr>
              <a:t>Market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7064" y="2112263"/>
            <a:ext cx="551383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28248" y="1984247"/>
            <a:ext cx="502920" cy="5029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947671"/>
            <a:ext cx="3264408" cy="40233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0">
                <a:solidFill>
                  <a:srgbClr val="44546A"/>
                </a:solidFill>
                <a:latin typeface="Microsoft YaHei"/>
                <a:ea typeface="Microsoft YaHei"/>
              </a:rPr>
              <a:t>品类分析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267711"/>
            <a:ext cx="2779776" cy="3108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Century Gothic"/>
                <a:ea typeface="Microsoft YaHei"/>
              </a:rPr>
              <a:t>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3145534"/>
            <a:ext cx="551383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28248" y="3017518"/>
            <a:ext cx="502920" cy="5029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  <a:ea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980942"/>
            <a:ext cx="3264408" cy="40233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0">
                <a:solidFill>
                  <a:srgbClr val="44546A"/>
                </a:solidFill>
                <a:latin typeface="Microsoft YaHei"/>
                <a:ea typeface="Microsoft YaHei"/>
              </a:rPr>
              <a:t>趋势预测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3300982"/>
            <a:ext cx="2779776" cy="310896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Century Gothic"/>
                <a:ea typeface="Microsoft YaHei"/>
              </a:rP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4389120"/>
            <a:ext cx="2743200" cy="36576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3840480"/>
            <a:ext cx="6830568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1800" b="0">
                <a:solidFill>
                  <a:srgbClr val="01EFC1"/>
                </a:solidFill>
                <a:latin typeface="Century Gothic"/>
                <a:ea typeface="Microsoft YaHe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572000"/>
            <a:ext cx="6830568" cy="13258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市场总览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669280"/>
            <a:ext cx="6830568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1800" b="0">
                <a:solidFill>
                  <a:srgbClr val="A0F3FF"/>
                </a:solidFill>
                <a:latin typeface="Microsoft YaHei"/>
                <a:ea typeface="Microsoft YaHei"/>
              </a:rPr>
              <a:t>Market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中国餐饮市场规模突破5万亿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10996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87552"/>
            <a:ext cx="25400" cy="649224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179576"/>
            <a:ext cx="256032" cy="256032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896112"/>
            <a:ext cx="11155680" cy="740664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市场持续回暖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国家统计局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9144000" cy="182880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9600" b="1">
                <a:solidFill>
                  <a:srgbClr val="2156C7"/>
                </a:solidFill>
                <a:latin typeface="Century Gothic"/>
                <a:ea typeface="Microsoft YaHei"/>
              </a:rPr>
              <a:t>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400" b="0">
                <a:solidFill>
                  <a:srgbClr val="666666"/>
                </a:solidFill>
                <a:latin typeface="Microsoft YaHei"/>
                <a:ea typeface="Microsoft YaHei"/>
              </a:rPr>
              <a:t>万亿元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731520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同比增长12.3%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647" y="539496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000" b="1">
                <a:solidFill>
                  <a:srgbClr val="2156C7"/>
                </a:solidFill>
                <a:latin typeface="Century Gothic"/>
                <a:ea typeface="Microsoft YaHei"/>
              </a:rPr>
              <a:t>800万+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647" y="5760720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门店数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539496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000" b="1">
                <a:solidFill>
                  <a:srgbClr val="2156C7"/>
                </a:solidFill>
                <a:latin typeface="Century Gothic"/>
                <a:ea typeface="Microsoft YaHei"/>
              </a:rPr>
              <a:t>2000万+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5760720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从业人数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核心增长指标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高岩餐观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" y="2103120"/>
            <a:ext cx="3078480" cy="3474720"/>
          </a:xfrm>
          <a:prstGeom prst="roundRect">
            <a:avLst>
              <a:gd name="adj" fmla="val 148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4648" y="2560320"/>
            <a:ext cx="2743200" cy="109728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5400" b="1">
                <a:solidFill>
                  <a:srgbClr val="2156C7"/>
                </a:solidFill>
                <a:latin typeface="Century Gothic"/>
                <a:ea typeface="Microsoft YaHei"/>
              </a:rPr>
              <a:t>12.3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4648" y="365760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4648" y="4023360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0">
                <a:solidFill>
                  <a:srgbClr val="00B050"/>
                </a:solidFill>
                <a:latin typeface="Century Gothic"/>
                <a:ea typeface="Microsoft YaHei"/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4648" y="4480560"/>
            <a:ext cx="2743200" cy="731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同比增长率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9808" y="2103120"/>
            <a:ext cx="3078480" cy="3474720"/>
          </a:xfrm>
          <a:prstGeom prst="roundRect">
            <a:avLst>
              <a:gd name="adj" fmla="val 148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560320"/>
            <a:ext cx="2743200" cy="109728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5400" b="1">
                <a:solidFill>
                  <a:srgbClr val="2156C7"/>
                </a:solidFill>
                <a:latin typeface="Century Gothic"/>
                <a:ea typeface="Microsoft YaHei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65760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万亿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480560"/>
            <a:ext cx="2743200" cy="731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市场规模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2608" y="2103120"/>
            <a:ext cx="3078480" cy="3474720"/>
          </a:xfrm>
          <a:prstGeom prst="roundRect">
            <a:avLst>
              <a:gd name="adj" fmla="val 148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0248" y="2560320"/>
            <a:ext cx="2743200" cy="109728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5400" b="1">
                <a:solidFill>
                  <a:srgbClr val="2156C7"/>
                </a:solidFill>
                <a:latin typeface="Century Gothic"/>
                <a:ea typeface="Microsoft YaHei"/>
              </a:rPr>
              <a:t>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0248" y="365760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0248" y="4023360"/>
            <a:ext cx="274320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0">
                <a:solidFill>
                  <a:srgbClr val="FB440F"/>
                </a:solidFill>
                <a:latin typeface="Century Gothic"/>
                <a:ea typeface="Microsoft YaHei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0248" y="4480560"/>
            <a:ext cx="2743200" cy="7315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门店总数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Top10品牌门店数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高岩餐观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2011680"/>
            <a:ext cx="26974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排名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2011680"/>
            <a:ext cx="26974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201168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品牌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2011680"/>
            <a:ext cx="26974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201168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门店数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528" y="2011680"/>
            <a:ext cx="26974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01168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增长率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251460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1460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251460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251460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蜜雪冰城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8" y="251460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251460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30000+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251460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251460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301752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01752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01752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01752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瑞幸咖啡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8" y="301752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01752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18000+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96528" y="301752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301752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" y="352044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352044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352044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52044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华莱士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8" y="352044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352044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20000+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6528" y="352044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352044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" y="402336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402336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402336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1568" y="402336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绝味鸭脖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9048" y="402336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8" y="402336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15000+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402336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4023360"/>
            <a:ext cx="2697480" cy="5029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Microsoft YaHei"/>
                <a:ea typeface="Microsoft YaHei"/>
              </a:rPr>
              <a:t>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新茶饮赛道增速放缓但利润提升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10996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87552"/>
            <a:ext cx="25400" cy="649224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179576"/>
            <a:ext cx="256032" cy="256032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896112"/>
            <a:ext cx="11155680" cy="740664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品牌化和供应链是关键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828800"/>
            <a:ext cx="7132320" cy="43891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新茶饮市场规模达3000亿元，同比增长8.5%。头部品牌加速下沉市场布局。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1828800"/>
            <a:ext cx="25400" cy="4389120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1828800"/>
            <a:ext cx="3538728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061F32"/>
                </a:solidFill>
                <a:latin typeface="Century Gothic"/>
                <a:ea typeface="Microsoft YaHei"/>
              </a:rPr>
              <a:t>Key Takeaways</a:t>
            </a:r>
          </a:p>
        </p:txBody>
      </p:sp>
      <p:sp>
        <p:nvSpPr>
          <p:cNvPr id="15" name="Oval 14"/>
          <p:cNvSpPr/>
          <p:nvPr/>
        </p:nvSpPr>
        <p:spPr>
          <a:xfrm>
            <a:off x="8101583" y="237744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头部品牌集中度提升</a:t>
            </a:r>
          </a:p>
        </p:txBody>
      </p:sp>
      <p:sp>
        <p:nvSpPr>
          <p:cNvPr id="17" name="Oval 16"/>
          <p:cNvSpPr/>
          <p:nvPr/>
        </p:nvSpPr>
        <p:spPr>
          <a:xfrm>
            <a:off x="8101583" y="301752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1" y="297180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下沉市场仍有空间</a:t>
            </a:r>
          </a:p>
        </p:txBody>
      </p:sp>
      <p:sp>
        <p:nvSpPr>
          <p:cNvPr id="19" name="Oval 18"/>
          <p:cNvSpPr/>
          <p:nvPr/>
        </p:nvSpPr>
        <p:spPr>
          <a:xfrm>
            <a:off x="8101583" y="365760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361188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供应链成为核心壁垒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火锅赛道竞争格局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高岩餐观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828800"/>
            <a:ext cx="7132320" cy="4389120"/>
          </a:xfrm>
          <a:prstGeom prst="roundRect">
            <a:avLst>
              <a:gd name="adj" fmla="val 1562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865376"/>
            <a:ext cx="7059168" cy="4315968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6986016" cy="4242816"/>
          </a:xfrm>
          <a:prstGeom prst="roundRect">
            <a:avLst>
              <a:gd name="adj" fmla="val 1616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3749040"/>
            <a:ext cx="7132320" cy="45720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200" b="1">
                <a:solidFill>
                  <a:srgbClr val="CCCCCC"/>
                </a:solidFill>
                <a:latin typeface="Microsoft YaHei"/>
                <a:ea typeface="Microsoft YaHei"/>
              </a:rPr>
              <a:t>[ 火锅品牌竞争力散点图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4206240"/>
            <a:ext cx="7132320" cy="2743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755"/>
              </a:lnSpc>
            </a:pPr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火锅品牌竞争力散点图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1828800"/>
            <a:ext cx="25400" cy="4389120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1828800"/>
            <a:ext cx="3538728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061F32"/>
                </a:solidFill>
                <a:latin typeface="Century Gothic"/>
                <a:ea typeface="Microsoft YaHei"/>
              </a:rPr>
              <a:t>Key Takeaways</a:t>
            </a:r>
          </a:p>
        </p:txBody>
      </p:sp>
      <p:sp>
        <p:nvSpPr>
          <p:cNvPr id="15" name="Oval 14"/>
          <p:cNvSpPr/>
          <p:nvPr/>
        </p:nvSpPr>
        <p:spPr>
          <a:xfrm>
            <a:off x="8101583" y="237744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海底捞品牌力最强</a:t>
            </a:r>
          </a:p>
        </p:txBody>
      </p:sp>
      <p:sp>
        <p:nvSpPr>
          <p:cNvPr id="17" name="Oval 16"/>
          <p:cNvSpPr/>
          <p:nvPr/>
        </p:nvSpPr>
        <p:spPr>
          <a:xfrm>
            <a:off x="8101583" y="301752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1" y="297180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呷哺呷哺转型效果显著</a:t>
            </a:r>
          </a:p>
        </p:txBody>
      </p:sp>
      <p:sp>
        <p:nvSpPr>
          <p:cNvPr id="19" name="Oval 18"/>
          <p:cNvSpPr/>
          <p:nvPr/>
        </p:nvSpPr>
        <p:spPr>
          <a:xfrm>
            <a:off x="8101583" y="3657600"/>
            <a:ext cx="109728" cy="109728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3611880"/>
            <a:ext cx="333756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区域品牌崛起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中式正餐 vs 西式快餐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1828800"/>
            <a:ext cx="5280660" cy="548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83664"/>
            <a:ext cx="5280660" cy="4206240"/>
          </a:xfrm>
          <a:prstGeom prst="roundRect">
            <a:avLst>
              <a:gd name="adj" fmla="val 1086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491490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3E3939"/>
                </a:solidFill>
                <a:latin typeface="Microsoft YaHei"/>
                <a:ea typeface="Microsoft YaHei"/>
              </a:rPr>
              <a:t>中式正餐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603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客单价高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175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翻台率低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4747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体验导向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3348" y="1828800"/>
            <a:ext cx="5280660" cy="54864"/>
          </a:xfrm>
          <a:prstGeom prst="rect">
            <a:avLst/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3348" y="1883664"/>
            <a:ext cx="5280660" cy="4206240"/>
          </a:xfrm>
          <a:prstGeom prst="roundRect">
            <a:avLst>
              <a:gd name="adj" fmla="val 1086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6228" y="2011680"/>
            <a:ext cx="491490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3E3939"/>
                </a:solidFill>
                <a:latin typeface="Microsoft YaHei"/>
                <a:ea typeface="Microsoft YaHei"/>
              </a:rPr>
              <a:t>西式快餐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5603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标准化强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7668" y="30175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翻台率高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3474720"/>
            <a:ext cx="48234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效率导向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转型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数字化转型效果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28800"/>
            <a:ext cx="5029200" cy="4206240"/>
          </a:xfrm>
          <a:prstGeom prst="roundRect">
            <a:avLst>
              <a:gd name="adj" fmla="val 1086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828800"/>
            <a:ext cx="5029200" cy="54864"/>
          </a:xfrm>
          <a:prstGeom prst="rect">
            <a:avLst/>
          </a:prstGeom>
          <a:solidFill>
            <a:srgbClr val="FB4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57200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FB440F"/>
                </a:solidFill>
                <a:latin typeface="Microsoft YaHei"/>
                <a:ea typeface="Microsoft YaHei"/>
              </a:rPr>
              <a:t>传统模式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603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人工点单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175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纸质记账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4747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经验定价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74720"/>
            <a:ext cx="91440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4000" b="1">
                <a:solidFill>
                  <a:srgbClr val="01EFC1"/>
                </a:solidFill>
                <a:latin typeface="Century Gothic"/>
                <a:ea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5029200" cy="4206240"/>
          </a:xfrm>
          <a:prstGeom prst="roundRect">
            <a:avLst>
              <a:gd name="adj" fmla="val 1086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5029200" cy="54864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457200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09A477"/>
                </a:solidFill>
                <a:latin typeface="Microsoft YaHei"/>
                <a:ea typeface="Microsoft YaHei"/>
              </a:rPr>
              <a:t>数字化模式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5603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扫码点单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175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智能收银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AI定价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加盟 vs 直营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28800"/>
            <a:ext cx="5212080" cy="3474720"/>
          </a:xfrm>
          <a:prstGeom prst="roundRect">
            <a:avLst>
              <a:gd name="adj" fmla="val 131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828800"/>
            <a:ext cx="5212080" cy="54864"/>
          </a:xfrm>
          <a:prstGeom prst="rect">
            <a:avLst/>
          </a:prstGeom>
          <a:solidFill>
            <a:srgbClr val="09A4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4754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09A477"/>
                </a:solidFill>
                <a:latin typeface="Microsoft YaHei"/>
                <a:ea typeface="Microsoft YaHei"/>
              </a:rPr>
              <a:t>✓ 优势 / Pros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2316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扩张速度快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3464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轻资产运营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4612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本地化强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212080" cy="3474720"/>
          </a:xfrm>
          <a:prstGeom prst="roundRect">
            <a:avLst>
              <a:gd name="adj" fmla="val 1315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212080" cy="54864"/>
          </a:xfrm>
          <a:prstGeom prst="rect">
            <a:avLst/>
          </a:prstGeom>
          <a:solidFill>
            <a:srgbClr val="FB4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754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000" b="1">
                <a:solidFill>
                  <a:srgbClr val="FB440F"/>
                </a:solidFill>
                <a:latin typeface="Microsoft YaHei"/>
                <a:ea typeface="Microsoft YaHei"/>
              </a:rPr>
              <a:t>✗ 劣势 / 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品控难度大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3464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品牌稀释风险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4663440" cy="4114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• 管理成本高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5486400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86400"/>
            <a:ext cx="10332720" cy="54864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建议采用混合模式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品牌竞争力评估矩阵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4389120" cy="1920240"/>
          </a:xfrm>
          <a:prstGeom prst="roundRect">
            <a:avLst>
              <a:gd name="adj" fmla="val 238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4389120" cy="45720"/>
          </a:xfrm>
          <a:prstGeom prst="rect">
            <a:avLst/>
          </a:prstGeom>
          <a:solidFill>
            <a:srgbClr val="215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40233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明星品牌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海底捞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8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太二酸菜鱼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103120"/>
            <a:ext cx="4389120" cy="1920240"/>
          </a:xfrm>
          <a:prstGeom prst="roundRect">
            <a:avLst>
              <a:gd name="adj" fmla="val 238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2103120"/>
            <a:ext cx="4389120" cy="45720"/>
          </a:xfrm>
          <a:prstGeom prst="rect">
            <a:avLst/>
          </a:prstGeom>
          <a:solidFill>
            <a:srgbClr val="05AE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212848"/>
            <a:ext cx="40233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高潜品牌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0604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费大厨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2608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朱光玉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160520"/>
            <a:ext cx="4389120" cy="1920240"/>
          </a:xfrm>
          <a:prstGeom prst="roundRect">
            <a:avLst>
              <a:gd name="adj" fmla="val 238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160520"/>
            <a:ext cx="4389120" cy="45720"/>
          </a:xfrm>
          <a:prstGeom prst="rect">
            <a:avLst/>
          </a:prstGeom>
          <a:solidFill>
            <a:srgbClr val="E9C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270248"/>
            <a:ext cx="40233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成熟品牌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66344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肯德基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8348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麦当劳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160520"/>
            <a:ext cx="4389120" cy="1920240"/>
          </a:xfrm>
          <a:prstGeom prst="roundRect">
            <a:avLst>
              <a:gd name="adj" fmla="val 238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4160520"/>
            <a:ext cx="4389120" cy="45720"/>
          </a:xfrm>
          <a:prstGeom prst="rect">
            <a:avLst/>
          </a:prstGeom>
          <a:solidFill>
            <a:srgbClr val="09A4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270248"/>
            <a:ext cx="40233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挑战品牌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663440"/>
            <a:ext cx="393192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• 区域小品牌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7700" y="178308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高增长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7700" y="612648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低增长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95478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低市占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95478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高市占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餐饮品牌打造4步法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86000"/>
            <a:ext cx="2606040" cy="1097280"/>
          </a:xfrm>
          <a:prstGeom prst="roundRect">
            <a:avLst>
              <a:gd name="adj" fmla="val 3333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242316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800" b="1">
                <a:solidFill>
                  <a:srgbClr val="FFFFFF"/>
                </a:solidFill>
                <a:latin typeface="Century Gothic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24231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市场洞察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566160"/>
            <a:ext cx="2514600" cy="1645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数据分析+趋势研判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560320"/>
            <a:ext cx="27432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1800" b="0">
                <a:solidFill>
                  <a:srgbClr val="666666"/>
                </a:solidFill>
                <a:latin typeface="Century Gothic"/>
                <a:ea typeface="Microsoft YaHe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2286000"/>
            <a:ext cx="2606040" cy="1097280"/>
          </a:xfrm>
          <a:prstGeom prst="roundRect">
            <a:avLst>
              <a:gd name="adj" fmla="val 3333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377440"/>
            <a:ext cx="242316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800" b="1">
                <a:solidFill>
                  <a:srgbClr val="FFFFFF"/>
                </a:solidFill>
                <a:latin typeface="Century Gothic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788920"/>
            <a:ext cx="24231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品牌定位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566160"/>
            <a:ext cx="2514600" cy="1645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差异化+价值主张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560320"/>
            <a:ext cx="27432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1800" b="0">
                <a:solidFill>
                  <a:srgbClr val="666666"/>
                </a:solidFill>
                <a:latin typeface="Century Gothic"/>
                <a:ea typeface="Microsoft YaHe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286000"/>
            <a:ext cx="2606040" cy="1097280"/>
          </a:xfrm>
          <a:prstGeom prst="roundRect">
            <a:avLst>
              <a:gd name="adj" fmla="val 3333"/>
            </a:avLst>
          </a:prstGeom>
          <a:solidFill>
            <a:srgbClr val="215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377440"/>
            <a:ext cx="242316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800" b="1">
                <a:solidFill>
                  <a:srgbClr val="FFFFFF"/>
                </a:solidFill>
                <a:latin typeface="Century Gothic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788920"/>
            <a:ext cx="24231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产品打造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566160"/>
            <a:ext cx="2514600" cy="1645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菜品研发+供应链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560320"/>
            <a:ext cx="27432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1800" b="0">
                <a:solidFill>
                  <a:srgbClr val="666666"/>
                </a:solidFill>
                <a:latin typeface="Century Gothic"/>
                <a:ea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42248" y="2286000"/>
            <a:ext cx="2606040" cy="1097280"/>
          </a:xfrm>
          <a:prstGeom prst="roundRect">
            <a:avLst>
              <a:gd name="adj" fmla="val 3333"/>
            </a:avLst>
          </a:prstGeom>
          <a:solidFill>
            <a:srgbClr val="2276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3688" y="2377440"/>
            <a:ext cx="242316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800" b="1">
                <a:solidFill>
                  <a:srgbClr val="FFFFFF"/>
                </a:solidFill>
                <a:latin typeface="Century Gothic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2788920"/>
            <a:ext cx="242316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规模扩张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566160"/>
            <a:ext cx="2514600" cy="1645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加盟体系+数字化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赋能服务流程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entury Gothic"/>
                <a:ea typeface="Microsoft YaHe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6736" y="2560320"/>
            <a:ext cx="19050" cy="548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9326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需求诊断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9326880" cy="502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深度调研客户现状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108960"/>
            <a:ext cx="457200" cy="457200"/>
          </a:xfrm>
          <a:prstGeom prst="ellipse">
            <a:avLst/>
          </a:prstGeom>
          <a:solidFill>
            <a:srgbClr val="11336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entury Gothic"/>
                <a:ea typeface="Microsoft YaHe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6736" y="3566160"/>
            <a:ext cx="19050" cy="548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063240"/>
            <a:ext cx="9326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方案设计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29000"/>
            <a:ext cx="9326880" cy="502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定制化数据分析方案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114800"/>
            <a:ext cx="457200" cy="457200"/>
          </a:xfrm>
          <a:prstGeom prst="ellipse">
            <a:avLst/>
          </a:prstGeom>
          <a:solidFill>
            <a:srgbClr val="2156C7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entury Gothic"/>
                <a:ea typeface="Microsoft YaHe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6736" y="4572000"/>
            <a:ext cx="19050" cy="548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069080"/>
            <a:ext cx="9326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落地执行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326880" cy="502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数据接入+分析交付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120640"/>
            <a:ext cx="457200" cy="4572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entury Gothic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932688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持续优化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40680"/>
            <a:ext cx="9326880" cy="5029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月度复盘+迭代升级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高岩科技发展历程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9966960" cy="38100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05990" y="3703320"/>
            <a:ext cx="274320" cy="2743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Century Gothic"/>
                <a:ea typeface="Microsoft YaHei"/>
              </a:rPr>
              <a:t>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公司成立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2491740" cy="6400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餐饮数据分析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3150" y="3474720"/>
            <a:ext cx="1270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7730" y="3703320"/>
            <a:ext cx="274320" cy="2743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34890" y="3977640"/>
            <a:ext cx="1270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9020" y="425196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Century Gothic"/>
                <a:ea typeface="Microsoft YaHei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457200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餐观上线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020" y="4892040"/>
            <a:ext cx="2491740" cy="6400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SaaS产品发布</a:t>
            </a:r>
          </a:p>
        </p:txBody>
      </p:sp>
      <p:sp>
        <p:nvSpPr>
          <p:cNvPr id="19" name="Oval 18"/>
          <p:cNvSpPr/>
          <p:nvPr/>
        </p:nvSpPr>
        <p:spPr>
          <a:xfrm>
            <a:off x="7189470" y="3703320"/>
            <a:ext cx="274320" cy="2743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19456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Century Gothic"/>
                <a:ea typeface="Microsoft YaHei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51460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AI赋能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834640"/>
            <a:ext cx="2491740" cy="6400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Agent+Skill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6630" y="3474720"/>
            <a:ext cx="1270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81210" y="3703320"/>
            <a:ext cx="274320" cy="274320"/>
          </a:xfrm>
          <a:prstGeom prst="ellipse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18370" y="3977640"/>
            <a:ext cx="1270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500" y="425196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1">
                <a:solidFill>
                  <a:srgbClr val="2156C7"/>
                </a:solidFill>
                <a:latin typeface="Century Gothic"/>
                <a:ea typeface="Microsoft YaHei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0" y="4572000"/>
            <a:ext cx="24917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0" y="4892040"/>
            <a:ext cx="2491740" cy="6400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服务1000+品牌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核心团队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1770888" y="2103120"/>
            <a:ext cx="1463040" cy="1463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66666"/>
                </a:solidFill>
                <a:latin typeface="Century Gothic"/>
                <a:ea typeface="Microsoft YaHei"/>
              </a:rPr>
              <a:t>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49040"/>
            <a:ext cx="359664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杨顺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114800"/>
            <a:ext cx="35966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联合创始人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480560"/>
            <a:ext cx="3413760" cy="10972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数据分析专家</a:t>
            </a:r>
          </a:p>
        </p:txBody>
      </p:sp>
      <p:sp>
        <p:nvSpPr>
          <p:cNvPr id="11" name="Oval 10"/>
          <p:cNvSpPr/>
          <p:nvPr/>
        </p:nvSpPr>
        <p:spPr>
          <a:xfrm>
            <a:off x="5367528" y="2103120"/>
            <a:ext cx="1463040" cy="1463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66666"/>
                </a:solidFill>
                <a:latin typeface="Century Gothic"/>
                <a:ea typeface="Microsoft YaHei"/>
              </a:rPr>
              <a:t>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728" y="3749040"/>
            <a:ext cx="359664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张三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728" y="4114800"/>
            <a:ext cx="35966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2168" y="4480560"/>
            <a:ext cx="3413760" cy="10972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技术架构师</a:t>
            </a:r>
          </a:p>
        </p:txBody>
      </p:sp>
      <p:sp>
        <p:nvSpPr>
          <p:cNvPr id="15" name="Oval 14"/>
          <p:cNvSpPr/>
          <p:nvPr/>
        </p:nvSpPr>
        <p:spPr>
          <a:xfrm>
            <a:off x="8964168" y="2103120"/>
            <a:ext cx="1463040" cy="146304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66666"/>
                </a:solidFill>
                <a:latin typeface="Century Gothic"/>
                <a:ea typeface="Microsoft YaHei"/>
              </a:rPr>
              <a:t>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7368" y="3749040"/>
            <a:ext cx="359664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李四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7368" y="4114800"/>
            <a:ext cx="359664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COO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8808" y="4480560"/>
            <a:ext cx="3413760" cy="109728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运营管理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某连锁火锅品牌数字化案例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10312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377440"/>
            <a:ext cx="19050" cy="883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9418320" cy="655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全国300+门店，运营效率亟需提升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261360"/>
            <a:ext cx="274320" cy="274320"/>
          </a:xfrm>
          <a:prstGeom prst="ellipse">
            <a:avLst/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3535680"/>
            <a:ext cx="19050" cy="883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21564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81400"/>
            <a:ext cx="9418320" cy="655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接入高岩餐观大数据，定制分析看板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419600"/>
            <a:ext cx="274320" cy="274320"/>
          </a:xfrm>
          <a:prstGeom prst="ellipse">
            <a:avLst/>
          </a:prstGeom>
          <a:solidFill>
            <a:srgbClr val="215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37388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>
                <a:solidFill>
                  <a:srgbClr val="3E3939"/>
                </a:solidFill>
                <a:latin typeface="Microsoft YaHei"/>
                <a:ea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39640"/>
            <a:ext cx="9418320" cy="655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3个月完成全链路数据接入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" y="5623560"/>
            <a:ext cx="10789920" cy="640080"/>
          </a:xfrm>
          <a:prstGeom prst="roundRect">
            <a:avLst>
              <a:gd name="adj" fmla="val 7142"/>
            </a:avLst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828800" cy="6400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623560"/>
            <a:ext cx="8503920" cy="6400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运营效率提升35%，翻台率提高12%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Top品类门店增长对比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高岩餐观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943600"/>
            <a:ext cx="9875520" cy="12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7612" y="4611188"/>
            <a:ext cx="864108" cy="1332411"/>
          </a:xfrm>
          <a:prstGeom prst="roundRect">
            <a:avLst>
              <a:gd name="adj" fmla="val 2116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7612" y="4336868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150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344706"/>
            <a:ext cx="864108" cy="1598893"/>
          </a:xfrm>
          <a:prstGeom prst="roundRect">
            <a:avLst>
              <a:gd name="adj" fmla="val 2116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4070386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89320"/>
            <a:ext cx="246888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火锅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6492" y="4167051"/>
            <a:ext cx="864108" cy="1776548"/>
          </a:xfrm>
          <a:prstGeom prst="roundRect">
            <a:avLst>
              <a:gd name="adj" fmla="val 2116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6492" y="3892731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722914"/>
            <a:ext cx="864108" cy="2220685"/>
          </a:xfrm>
          <a:prstGeom prst="roundRect">
            <a:avLst>
              <a:gd name="adj" fmla="val 2116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448594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989320"/>
            <a:ext cx="246888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奶茶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5372" y="4344706"/>
            <a:ext cx="864108" cy="1598893"/>
          </a:xfrm>
          <a:prstGeom prst="roundRect">
            <a:avLst>
              <a:gd name="adj" fmla="val 2116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4070386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180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989396"/>
            <a:ext cx="864108" cy="1954203"/>
          </a:xfrm>
          <a:prstGeom prst="roundRect">
            <a:avLst>
              <a:gd name="adj" fmla="val 2116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715076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989320"/>
            <a:ext cx="246888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咖啡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4252" y="3278777"/>
            <a:ext cx="864108" cy="2664822"/>
          </a:xfrm>
          <a:prstGeom prst="roundRect">
            <a:avLst>
              <a:gd name="adj" fmla="val 2116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4252" y="3004457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2834640"/>
            <a:ext cx="864108" cy="3108960"/>
          </a:xfrm>
          <a:prstGeom prst="roundRect">
            <a:avLst>
              <a:gd name="adj" fmla="val 2116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560320"/>
            <a:ext cx="864108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Century Gothic"/>
                <a:ea typeface="Microsoft YaHei"/>
              </a:rPr>
              <a:t>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989320"/>
            <a:ext cx="246888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620"/>
              </a:lnSpc>
            </a:pPr>
            <a:r>
              <a:rPr sz="1200" b="0">
                <a:solidFill>
                  <a:srgbClr val="3E3939"/>
                </a:solidFill>
                <a:latin typeface="Microsoft YaHei"/>
                <a:ea typeface="Microsoft YaHei"/>
              </a:rPr>
              <a:t>快餐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920240"/>
            <a:ext cx="182880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1901952"/>
            <a:ext cx="1371600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1920240"/>
            <a:ext cx="182880" cy="137160"/>
          </a:xfrm>
          <a:prstGeom prst="rect">
            <a:avLst/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901952"/>
            <a:ext cx="1371600" cy="2286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350"/>
              </a:lnSpc>
            </a:pPr>
            <a:r>
              <a:rPr sz="1000" b="0">
                <a:solidFill>
                  <a:srgbClr val="3E3939"/>
                </a:solidFill>
                <a:latin typeface="Microsoft YaHei"/>
                <a:ea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品类占比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20</a:t>
            </a:r>
          </a:p>
        </p:txBody>
      </p:sp>
      <p:sp>
        <p:nvSpPr>
          <p:cNvPr id="8" name="Block Arc 7"/>
          <p:cNvSpPr/>
          <p:nvPr/>
        </p:nvSpPr>
        <p:spPr>
          <a:xfrm>
            <a:off x="1828800" y="2194560"/>
            <a:ext cx="3291840" cy="3291840"/>
          </a:xfrm>
          <a:prstGeom prst="blockArc">
            <a:avLst>
              <a:gd name="adj1" fmla="val 0"/>
              <a:gd name="adj2" fmla="val 7559999"/>
              <a:gd name="adj3" fmla="val 25000"/>
            </a:avLst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1828800" y="2194560"/>
            <a:ext cx="3291840" cy="3291840"/>
          </a:xfrm>
          <a:prstGeom prst="blockArc">
            <a:avLst>
              <a:gd name="adj1" fmla="val 7559999"/>
              <a:gd name="adj2" fmla="val 12960000"/>
              <a:gd name="adj3" fmla="val 25000"/>
            </a:avLst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lock Arc 9"/>
          <p:cNvSpPr/>
          <p:nvPr/>
        </p:nvSpPr>
        <p:spPr>
          <a:xfrm>
            <a:off x="1828800" y="2194560"/>
            <a:ext cx="3291840" cy="3291840"/>
          </a:xfrm>
          <a:prstGeom prst="blockArc">
            <a:avLst>
              <a:gd name="adj1" fmla="val 12960000"/>
              <a:gd name="adj2" fmla="val 17280000"/>
              <a:gd name="adj3" fmla="val 25000"/>
            </a:avLst>
          </a:prstGeom>
          <a:solidFill>
            <a:srgbClr val="215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ock Arc 10"/>
          <p:cNvSpPr/>
          <p:nvPr/>
        </p:nvSpPr>
        <p:spPr>
          <a:xfrm>
            <a:off x="1828800" y="2194560"/>
            <a:ext cx="3291840" cy="3291840"/>
          </a:xfrm>
          <a:prstGeom prst="blockArc">
            <a:avLst>
              <a:gd name="adj1" fmla="val 17280000"/>
              <a:gd name="adj2" fmla="val 21600000"/>
              <a:gd name="adj3" fmla="val 25000"/>
            </a:avLst>
          </a:prstGeom>
          <a:solidFill>
            <a:srgbClr val="2276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194560"/>
            <a:ext cx="3291840" cy="329184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000" b="1">
                <a:solidFill>
                  <a:srgbClr val="3E3939"/>
                </a:solidFill>
                <a:latin typeface="Microsoft YaHei"/>
                <a:ea typeface="Microsoft YaHei"/>
              </a:rPr>
              <a:t>品类占比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28600" cy="1828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42032"/>
            <a:ext cx="32004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火锅  35.0%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228600" cy="182880"/>
          </a:xfrm>
          <a:prstGeom prst="rect">
            <a:avLst/>
          </a:prstGeom>
          <a:solidFill>
            <a:srgbClr val="1133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953512"/>
            <a:ext cx="32004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快餐  25.0%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83280"/>
            <a:ext cx="228600" cy="182880"/>
          </a:xfrm>
          <a:prstGeom prst="rect">
            <a:avLst/>
          </a:prstGeom>
          <a:solidFill>
            <a:srgbClr val="215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364992"/>
            <a:ext cx="32004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奶茶  20.0%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228600" cy="182880"/>
          </a:xfrm>
          <a:prstGeom prst="rect">
            <a:avLst/>
          </a:prstGeom>
          <a:solidFill>
            <a:srgbClr val="2276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76472"/>
            <a:ext cx="3200400" cy="27432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其他  20.0%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669280"/>
            <a:ext cx="10789920" cy="45720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ctr">
              <a:lnSpc>
                <a:spcPts val="1890"/>
              </a:lnSpc>
            </a:pPr>
            <a:r>
              <a:rPr sz="1400" b="0">
                <a:solidFill>
                  <a:srgbClr val="3E3939"/>
                </a:solidFill>
                <a:latin typeface="Microsoft YaHei"/>
                <a:ea typeface="Microsoft YaHei"/>
              </a:rPr>
              <a:t>火锅仍是第一大品类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" y="0"/>
            <a:ext cx="420624" cy="822960"/>
          </a:xfrm>
          <a:prstGeom prst="roundRect">
            <a:avLst>
              <a:gd name="adj" fmla="val 5434"/>
            </a:avLst>
          </a:prstGeom>
          <a:solidFill>
            <a:srgbClr val="00EF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0"/>
            <a:ext cx="420624" cy="82296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3E3939"/>
                </a:solidFill>
                <a:latin typeface="Microsoft YaHei"/>
                <a:ea typeface="Microsoft YaHei"/>
              </a:rPr>
              <a:t>EGPM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0"/>
            <a:ext cx="11695176" cy="822960"/>
          </a:xfrm>
          <a:prstGeom prst="rect">
            <a:avLst/>
          </a:prstGeom>
          <a:noFill/>
        </p:spPr>
        <p:txBody>
          <a:bodyPr wrap="square" anchor="b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2400" b="1">
                <a:solidFill>
                  <a:srgbClr val="3E3939"/>
                </a:solidFill>
                <a:latin typeface="Microsoft YaHei"/>
                <a:ea typeface="Microsoft YaHei"/>
              </a:rPr>
              <a:t>EGPM趋势分析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501384"/>
            <a:ext cx="7296912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062032"/>
                </a:solidFill>
                <a:latin typeface="Arial"/>
                <a:ea typeface="Microsoft YaHei"/>
              </a:rPr>
              <a:t>Source: 高岩餐观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8712" y="6501384"/>
            <a:ext cx="996696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3E3939"/>
                </a:solidFill>
                <a:latin typeface="Microsoft YaHei"/>
                <a:ea typeface="Microsoft YaHei"/>
              </a:rPr>
              <a:t>高岩 GAOYAN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50138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>
                <a:solidFill>
                  <a:srgbClr val="666666"/>
                </a:solidFill>
                <a:latin typeface="Century Gothic"/>
                <a:ea typeface="Microsoft Ya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828800"/>
            <a:ext cx="5943600" cy="4206240"/>
          </a:xfrm>
          <a:prstGeom prst="roundRect">
            <a:avLst>
              <a:gd name="adj" fmla="val 163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865376"/>
            <a:ext cx="5870448" cy="4133088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5797296" cy="4059936"/>
          </a:xfrm>
          <a:prstGeom prst="roundRect">
            <a:avLst>
              <a:gd name="adj" fmla="val 1689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3657600"/>
            <a:ext cx="5943600" cy="45720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ct val="93000"/>
              </a:lnSpc>
            </a:pPr>
            <a:r>
              <a:rPr sz="2200" b="1">
                <a:solidFill>
                  <a:srgbClr val="CCCCCC"/>
                </a:solidFill>
                <a:latin typeface="Microsoft YaHei"/>
                <a:ea typeface="Microsoft YaHei"/>
              </a:rPr>
              <a:t>[ EGPM散点图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4114800"/>
            <a:ext cx="5943600" cy="27432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755"/>
              </a:lnSpc>
            </a:pPr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EGPM散点图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4389120" cy="1280160"/>
          </a:xfrm>
          <a:prstGeom prst="roundRect">
            <a:avLst>
              <a:gd name="adj" fmla="val 3571"/>
            </a:avLst>
          </a:prstGeom>
          <a:solidFill>
            <a:srgbClr val="DAF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1920240"/>
            <a:ext cx="914400" cy="10972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920240"/>
            <a:ext cx="914400" cy="10972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Century Gothic"/>
                <a:ea typeface="Microsoft YaHei"/>
              </a:rPr>
              <a:t>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1089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麻辣风味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40280"/>
            <a:ext cx="3108960" cy="777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川渝地区增长最快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246120"/>
            <a:ext cx="4389120" cy="1280160"/>
          </a:xfrm>
          <a:prstGeom prst="roundRect">
            <a:avLst>
              <a:gd name="adj" fmla="val 3571"/>
            </a:avLst>
          </a:prstGeom>
          <a:solidFill>
            <a:srgbClr val="DAF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3337560"/>
            <a:ext cx="914400" cy="10972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337560"/>
            <a:ext cx="914400" cy="10972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Century Gothic"/>
                <a:ea typeface="Microsoft YaHei"/>
              </a:rPr>
              <a:t>Sweet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337560"/>
            <a:ext cx="31089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酸甜风味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57600"/>
            <a:ext cx="3108960" cy="777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年轻人最爱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4663440"/>
            <a:ext cx="4389120" cy="1280160"/>
          </a:xfrm>
          <a:prstGeom prst="roundRect">
            <a:avLst>
              <a:gd name="adj" fmla="val 3571"/>
            </a:avLst>
          </a:prstGeom>
          <a:solidFill>
            <a:srgbClr val="DAF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4754880"/>
            <a:ext cx="914400" cy="10972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754880"/>
            <a:ext cx="914400" cy="1097280"/>
          </a:xfrm>
          <a:prstGeom prst="rect">
            <a:avLst/>
          </a:prstGeom>
          <a:noFill/>
        </p:spPr>
        <p:txBody>
          <a:bodyPr wrap="square" anchor="ctr" lIns="45720" tIns="45720" rIns="45720" bIns="45720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Century Gothic"/>
                <a:ea typeface="Microsoft YaHei"/>
              </a:rPr>
              <a:t>Umami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754880"/>
            <a:ext cx="3108960" cy="3200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3E3939"/>
                </a:solidFill>
                <a:latin typeface="Microsoft YaHei"/>
                <a:ea typeface="Microsoft YaHei"/>
              </a:rPr>
              <a:t>鲜香风味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074920"/>
            <a:ext cx="3108960" cy="7772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</a:rPr>
              <a:t>粤菜系核心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2907792"/>
            <a:ext cx="4581144" cy="877824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8000" b="0">
                <a:solidFill>
                  <a:srgbClr val="3E3939"/>
                </a:solidFill>
                <a:latin typeface="Century Gothic"/>
                <a:ea typeface="Microsoft YaHei"/>
              </a:rPr>
              <a:t>THANKS!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9304" y="3931920"/>
            <a:ext cx="7315200" cy="54864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ct val="93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</a:rPr>
              <a:t>数智餐饮 共创味来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1E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9304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</a:rPr>
              <a:t>数智餐饮 共创味来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